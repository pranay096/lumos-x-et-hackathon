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0"/>
            <a:ext cx="36576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LUMOS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Unified Asset &amp; Operations Brain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194560" cy="457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#8 — ET AI Hackathon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731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#8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2801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3090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hours lost searching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3822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retiring soon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4553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from fragmentation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industrial plants are data-rich but knowledge-poor. The average large plant operates across 7–12 disconnected document systems — P&amp;IDs in one place, work orders in another, SOPs in a third. 35% of engineer hours are wasted searching for information that already exists.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023360" cy="123444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Fragmentation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 disconnected systems per plant. No intelligence layer connecting P&amp;IDs, SOPs, work orders, and incident reports.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4023360" cy="123444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Knowledge Cliff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experienced engineers retire this decade. Decades of undocumented know-how walks out the door permanently.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4023360" cy="123444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Diagnosis From Scratch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teams re-derive conclusions someone already reached. 18–22% of unplanned downtime is caused by information gaps.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4023360" cy="123444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Stale Procedures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703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SOP versions float across email and file shares. Technicians sometimes follow outdated procedures with no system flagging it.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brain for every document, every machine, every failure — queryable hands-free, at the point of need, before knowledge is lost.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06040" cy="141732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691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9842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Document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2860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PDFs, P&amp;IDs, scanned forms, and work orders. Extracts entities and builds a unified knowledge graph that updates automatically.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606040" cy="141732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1691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64992" y="19842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Knowledge Copilot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4992" y="22860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conversational AI answering operational, maintenance, and engineering queries with source citations and confidence scores.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606040" cy="141732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9632" y="1691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9632" y="19842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RCA 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9632" y="22860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work order history, failure records, and OEM manuals to generate predictive maintenance recommendations and root cause analysis.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160520" cy="141732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3200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34930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Intelligence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7947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Factory Act, OISD, and PESO requirements against current procedures — auto-generates compliance evidence packages for audits.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4160520" cy="141732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82312" y="3200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82312" y="34930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Lumos AI Glasses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2312" y="37947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field delivery: camera detects equipment, transparent OLED displays the fix or compliance flag, voice answers spoken questions in real time.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50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20040" y="1627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EXTRACTION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20040" y="24505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STORES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20040" y="32735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20040" y="4096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INTERFACES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463040" y="868680"/>
            <a:ext cx="13716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/ Scanned Docs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71800" y="868680"/>
            <a:ext cx="13716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 / Drawings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868680"/>
            <a:ext cx="13716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/ CMMS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868680"/>
            <a:ext cx="13716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98080" y="868680"/>
            <a:ext cx="13716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/ SOPs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97680" y="1389888"/>
            <a:ext cx="36576" cy="2743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463040" y="1691640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36192" y="171907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Document Intelligence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77640" y="1691640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50792" y="171907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&amp; Relation Extraction (Gemini AI)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92240" y="1691640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65392" y="171907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Ontology Mapper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97680" y="2212848"/>
            <a:ext cx="36576" cy="2743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2514600"/>
            <a:ext cx="2331720" cy="594360"/>
          </a:xfrm>
          <a:prstGeom prst="rect">
            <a:avLst/>
          </a:prstGeom>
          <a:solidFill>
            <a:srgbClr val="1A3A6B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88720" y="2542032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· Edges · Provenance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2514600"/>
            <a:ext cx="2331720" cy="594360"/>
          </a:xfrm>
          <a:prstGeom prst="rect">
            <a:avLst/>
          </a:prstGeom>
          <a:solidFill>
            <a:srgbClr val="1A3A6B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49040" y="2542032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· Semantic Search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2514600"/>
            <a:ext cx="2331720" cy="594360"/>
          </a:xfrm>
          <a:prstGeom prst="rect">
            <a:avLst/>
          </a:prstGeom>
          <a:solidFill>
            <a:srgbClr val="1A3A6B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09360" y="2542032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· Timestamps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97680" y="3127248"/>
            <a:ext cx="36576" cy="18288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7280" y="3337560"/>
            <a:ext cx="1737360" cy="621792"/>
          </a:xfrm>
          <a:prstGeom prst="rect">
            <a:avLst/>
          </a:prstGeom>
          <a:solidFill>
            <a:srgbClr val="0E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43000" y="33649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Agent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17520" y="3337560"/>
            <a:ext cx="1737360" cy="621792"/>
          </a:xfrm>
          <a:prstGeom prst="rect">
            <a:avLst/>
          </a:prstGeom>
          <a:solidFill>
            <a:srgbClr val="0E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063240" y="33649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3337560"/>
            <a:ext cx="1737360" cy="621792"/>
          </a:xfrm>
          <a:prstGeom prst="rect">
            <a:avLst/>
          </a:prstGeom>
          <a:solidFill>
            <a:srgbClr val="0E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83480" y="33649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RCA Agent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3337560"/>
            <a:ext cx="1737360" cy="621792"/>
          </a:xfrm>
          <a:prstGeom prst="rect">
            <a:avLst/>
          </a:prstGeom>
          <a:solidFill>
            <a:srgbClr val="0E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03720" y="33649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97680" y="3977640"/>
            <a:ext cx="36576" cy="164592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188720" y="4160520"/>
            <a:ext cx="2286000" cy="566928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280160" y="418795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Lumos AI Glasses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OLED · Voice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03320" y="4160520"/>
            <a:ext cx="2286000" cy="566928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94760" y="418795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Web 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Technicians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4160520"/>
            <a:ext cx="2286000" cy="566928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309360" y="418795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· Compliance Audit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Graph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503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Knowledge Graph beats plain RAG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303520" cy="356616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"Why does PMP-204 keep failing?"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PMP-204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48840" y="17830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node — anchor point for traversal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2037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OCCURRED_ON 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48840" y="22037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APM-INC-031 + APM-INC-044 (both incidents link back here)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6243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SIMILAR_TO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48840" y="2624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 both incidents share the same failure mode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0449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GOVERNS 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30449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APM-SOP-009 Rev.2 (current) — retrieved directly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4655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SUPERSEDES 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48840" y="34655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Rev.1 (180-day interval, outdated) — system knows NOT to use this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8862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REVISED_DUE_TO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38862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revision is causally linked to the two incidents above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30682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RELATES_TO 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43068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Tacit knowledge: R. Iyer's undocumented 'seal whine' early warning 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7-hop traversal is impossible with flat vector search — each chunk is independent.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97880" y="1234440"/>
            <a:ext cx="2880360" cy="356616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8076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1773936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773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69480" y="1773936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1773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2194560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21945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69480" y="2194560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21945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80760" y="2615184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26151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69480" y="2615184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26151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RegulatoryClause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80760" y="3035808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3035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IncidentReport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69480" y="3035808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7269480" y="3035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WorkOrder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80760" y="3456432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080760" y="3456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69480" y="3456432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480" y="3456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TacitKnowledge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080760" y="3877056"/>
            <a:ext cx="10058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3877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8932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nodes · 144 relationships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12 documents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Lumos AI Glasses — Field Interface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595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knowledge delivery for field technicians — the AI brain rendered at the lens.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352044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19656"/>
            <a:ext cx="292608" cy="2926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19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scans QR marker on equipment — identifies asset instantly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292608" cy="2926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682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automatic query sent to backend over Wi-Fi (Pi Zero W)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292608" cy="2926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90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9535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hybrid RAG (Qdrant + Neo4j) + Gemini synthesises answer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292608" cy="2926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75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5387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 in ~2 seconds as short text payload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292608" cy="29260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0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1239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OLED displays fix steps, compliance flag, or answer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1280160"/>
            <a:ext cx="4297680" cy="160020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1737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Raspberry Pi Zero W — capture &amp; render node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2011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USB/CSI Camera Module — visual input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Transparent OLED Display — SSD1309 overlay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MEMS Mic + Speaker — voice I/O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2971800"/>
            <a:ext cx="4297680" cy="182880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Demo Moments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Compliance Flag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7581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enters Zone B without face shield → glasses immediately flag PPE violation citing APM-SOP-014 §4 and REG-001 Section 41.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63440" y="4233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Point-and-Fix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453542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points camera at PMP-204 → glasses surface Rev.2 procedure, note Rev.1 is superseded, and link two prior humidity-related seal failures.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Real Pipeline Output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595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real system outputs from our working prototype — not mocked.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1554480"/>
          </a:xfrm>
          <a:prstGeom prst="rect">
            <a:avLst/>
          </a:prstGeom>
          <a:solidFill>
            <a:srgbClr val="081A3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54864" cy="155448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should I maintain PMP-204?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Perform preventive maintenance every 90 days (or within 48 hours if Zone B humidity exceeds 75% RH). Inspect the mechanical seal for surface pitting — this step was ADDED in the current revision (APM-SOP-009 Rev.2). The prior procedure (Rev.1, 180-day interval) has been superseded because two humidity-related seal failures (APM-INC-031, APM-INC-044) occurred within 3 weeks of each other. Also apply anti-corrosion coating to seal housing exterior.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used_superseded_check: True   |   Cited: 03_sop_pump_maintenance_v2_current.md, 02_sop_pump_maintenance_v1_superseded.md   |   Confidence: 1.0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944368"/>
            <a:ext cx="8412480" cy="1508760"/>
          </a:xfrm>
          <a:prstGeom prst="rect">
            <a:avLst/>
          </a:prstGeom>
          <a:solidFill>
            <a:srgbClr val="081A3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944368"/>
            <a:ext cx="54864" cy="1508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0837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does PMP-204 keep failing?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PMP-204 experienced two identical mechanical seal failures within 3 weeks (APM-INC-031: July 18 and APM-INC-044: August 9, 2025). Both are linked by a SIMILAR_TO relationship in the knowledge graph and trace to the same confirmed root cause: elevated ambient humidity (&gt;78% RH) in Zone B during monsoon months accelerates seal pitting. These incidents directly triggered the revision of APM-SOP-009 — the system connected these dots across three document types: incident reports, SOP revision history, and tacit engineer knowledge.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3251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flagged_recurring_pattern: True   |   Multi-hop traversal: 5 node types, 7 relationship types   |   Confidence: 1.0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173736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Gemini 2.5 Flash-Lite (generation)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Gemini Embedding-001 (embeddings)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multi-agent orchestration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97480" cy="173736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115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481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Neo4j AuraDB (cloud)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18470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88 nodes, 144 relationships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9000" y="2212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Cypher multi-hop traversal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97480" cy="173736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115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481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Qdrant Cloud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18470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768-dim normalized embeddings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2212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Metadata-filtered hybrid retrieval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97480" cy="173736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0358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401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 3.11 + FastAPI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767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google-genai SDK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1330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python-dotenv, numpy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97480" cy="173736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29000" y="30358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(Glasses)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401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Raspberry Pi Zero 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29000" y="3767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Transparent OLED (SSD1309)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29000" y="41330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CSI Camera + MEMS Mic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926080"/>
            <a:ext cx="2697480" cy="1737360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55080" y="30358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401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Responsive mobile web UI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3767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Real-time voice I/O (TTS/STT)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41330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Plant manager dashboard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 — Judging Criteria Alignment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640080" cy="5029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team with working AR glasses hardware delivering AI knowledge in the field. Hybrid graph+RAG architecture with provenance — not another chatbot.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8412480" cy="713232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640080" cy="5029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1901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17627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₹X crore in unplanned downtime caused by knowledge fragmentation (McKinsey/NASSCOM-EY data). Measurable MTTR reduction.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713232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24912"/>
            <a:ext cx="640080" cy="5029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249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706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298094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working prototype: 12 real documents ingested, 88 nodes/144 relationships in Neo4j, Qdrant vector store, full RAG pipeline, real API calls, real answers with citations.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419856"/>
            <a:ext cx="8412480" cy="713232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29584"/>
            <a:ext cx="640080" cy="5029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295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5112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78561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architecture (AuraDB + Qdrant Cloud). Knowledge graph grows with every new document ingested. Mobile + glasses + dashboard all served from one API.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solidFill>
            <a:srgbClr val="1420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334256"/>
            <a:ext cx="640080" cy="5029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3425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4315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459028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OLED overlay in the field. Answers compressed to voice-appropriate brevity. Mobile-first web UI. Plant-manager dashboard. Documentation Gap tracker.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6576" cy="514350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LUMOS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knowledge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plant has ever generated —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by anyone,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instantly, at the point of need.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walks out the door.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18288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· Live Demo · Real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640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26480" y="1207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Nodes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2743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3794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2026-07-11T14:06:07Z</dcterms:created>
  <dcterms:modified xsi:type="dcterms:W3CDTF">2026-07-11T14:06:07Z</dcterms:modified>
</cp:coreProperties>
</file>